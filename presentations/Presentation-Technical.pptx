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TECHNICAL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QR Sorting Robot — Cartesian XYZ gantry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C4D3E0"/>
                </a:solidFill>
                <a:latin typeface="Calibri"/>
              </a:rPr>
              <a:t>Architecture, motion control, vision, the PC-decode pipeline, the sorting logic and the design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90A4B5"/>
                </a:solidFill>
                <a:latin typeface="Calibri"/>
              </a:rPr>
              <a:t>QR Sorting Robot  •  Cartesian XYZ gantry + ESP32  •  PC-decode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1.  System architecture (two MCUs + a PC)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2.  Mechanics: XYZ gantry + screw actuators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3.  Motion control: steppers, A4988, FastAccelStepper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4.  Coordinates, homing, software limits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5.  Gripper (SG90 / LEDC PWM)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6.  Vision: PC-decode pipeline (ESP32-CAM stream + OpenCV)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7.  Communication (WiFi stream + USB serial)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8.  Sorting logic (CODE_MAP) + state machine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9.  Power &amp; pin map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10. Design decisions &amp; lessons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468880"/>
            <a:ext cx="9144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Two microcontrollers + a PC, separate responsibilities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2377440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" cy="2377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ESP32-CAM — VISION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OV2640 + PSRAM. Streams MJPEG over WiFi (esp32cam_stream). Decodes nothing, controls nothing mechanical. Rides on the Z carriage.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657600" cy="2377440"/>
          </a:xfrm>
          <a:prstGeom prst="rect">
            <a:avLst/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109728" cy="237744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63040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C87A00"/>
                </a:solidFill>
                <a:latin typeface="Calibri"/>
              </a:rPr>
              <a:t>PC — DECODER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decode_qr.py: reads the MJPEG stream, decodes the QR with OpenCV/pyzbar, forwards “QR:&lt;code&gt;” over USB serial.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3566160" cy="2377440"/>
          </a:xfrm>
          <a:prstGeom prst="rect">
            <a:avLst/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109728" cy="23774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2E8B57"/>
                </a:solidFill>
                <a:latin typeface="Calibri"/>
              </a:rPr>
              <a:t>ESP32 WROOM-32D — BRAIN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State machine (brainPC). STEP/DIR for 3× A4988, homing on endstops, servo, receives QR over serial, decides the cell.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23360"/>
            <a:ext cx="10881360" cy="1737360"/>
          </a:xfrm>
          <a:prstGeom prst="rect">
            <a:avLst/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109728" cy="173736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0624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C87A00"/>
                </a:solidFill>
                <a:latin typeface="Calibri"/>
              </a:rPr>
              <a:t>Why the split?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The camera takes up nearly all ESP32-CAM pins, and reliable QR decoding is heavy. The motion loop is timing-critical and must never be blocked. → camera streams, PC decodes (accurately), brain moves.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Why ESP32 (not AVR/Arduino Uno)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Built-in radio (WiFi) — mandatory for the wireless video stream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Dual-core 240 MHz — motion on one core, comms on the other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~520 KB RAM (+PSRAM on the CAM) — impossible with 2 KB on an ATmega328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Hardware peripherals: RMT (step pulses) and LEDC (servo PWM)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3.3 V logic — directly compatible with the ESP32-CAM, no level-shifter</a:t>
            </a:r>
          </a:p>
          <a:p>
            <a:pPr lvl="1" marL="457200" indent="0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–  Programmed entirely from the Arduino IDE (C/C++) — same ecosystem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468880"/>
            <a:ext cx="9144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Mechanics — XYZ gantry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Cartesian frame with screw actuators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A6670"/>
                </a:solidFill>
                <a:latin typeface="Calibri"/>
              </a:rPr>
              <a:t>Advantage: precision and repeatability (like a 3D printer / CNC)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3 orthogonal axes: X (left/right), Y (front/back), Z (up/down)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Each axis = screw actuator (lead/ballscrew) + NEMA 17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Screw rotation → translation of the nut/carriage (linear motion)</a:t>
            </a:r>
          </a:p>
          <a:p>
            <a:pPr lvl="1" marL="457200" indent="0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–  Screw lead = 4 mm per turn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On the Z carriage: the gripper + ESP32-CAM (load below the Z motor torque)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Typical build order: Y base → X bridge → Z vertical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468880"/>
            <a:ext cx="9144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Motion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Stepper motors + A4988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NEMA 17, 1.8°/step → 200 steps per full revolution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Open-loop control: count the steps ⇒ you know the position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The ESP32 cannot power the motor → the A4988 driver amplifies</a:t>
            </a:r>
          </a:p>
          <a:p>
            <a:pPr lvl="1" marL="457200" indent="0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–  The brain only sends: STEP (pulse = 1 step) and DIR (direction)</a:t>
            </a:r>
          </a:p>
          <a:p>
            <a:pPr lvl="1" marL="457200" indent="0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–  Shared ENABLE (GPIO13, active-LOW) for all 3 drivers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Runs on full step; MS1/2/3 set by jumpers, not on GPIO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Calibration: steps per millimeter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149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102A43"/>
                </a:solidFill>
                <a:latin typeface="Calibri"/>
              </a:rPr>
              <a:t>steps_per_mm = (steps/turn × microstepping) / screw_lead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222B33"/>
                </a:solidFill>
                <a:latin typeface="Calibri"/>
              </a:rPr>
              <a:t>= (200 × 1) / 4 mm  =  </a:t>
            </a:r>
            <a:r>
              <a:rPr sz="2400" b="1">
                <a:solidFill>
                  <a:srgbClr val="2E8B57"/>
                </a:solidFill>
                <a:latin typeface="Calibri"/>
              </a:rPr>
              <a:t>50 steps/mm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Verified empirically: command 100 mm → measure with calipers → 100 mm ⇒ steps_per_mm = 50.0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FastAccelStepper: timing on the RMT hardware → no lost steps at high speed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3 motors at once, smooth acceleration/deceleration, without loading the CPU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Motion profile: V (mm/s) and A (mm/s²) adjustable from commands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468880"/>
            <a:ext cx="9144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Coordinates &amp; homing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Homing — establishing the origin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At power-on the physical position is unknown → need a reference zero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6 endstops (MIN + MAX per axis), wired NO + INPUT_PULLUP</a:t>
            </a:r>
          </a:p>
          <a:p>
            <a:pPr lvl="1" marL="457200" indent="0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–  Pressed = LOW (NC would be fail-safe, but the NC terminal did not work)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Per-axis sequence: fast approach → back-off ~4 mm → slow re-approach → 0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Order Z → X → Y (anti-collision: raise Z first)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>
                <a:solidFill>
                  <a:srgbClr val="C87A00"/>
                </a:solidFill>
                <a:latin typeface="Calibri"/>
              </a:rPr>
              <a:t>•  Z homes UP (toward MAX): the shelves are in front</a:t>
            </a:r>
          </a:p>
          <a:p>
            <a:pPr lvl="1" marL="457200" indent="0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–  Consequence: Z=0 is at the top (safe); going down toward shelves = negative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Software limits (soft limits)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737360"/>
          <a:ext cx="85039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2011680"/>
                <a:gridCol w="32918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 marL="73152" marR="73152" marT="18288" marB="18288" anchor="ctr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Min (mm)</a:t>
                      </a:r>
                    </a:p>
                  </a:txBody>
                  <a:tcPr marL="73152" marR="73152" marT="18288" marB="18288" anchor="ctr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Max (mm)</a:t>
                      </a:r>
                    </a:p>
                  </a:txBody>
                  <a:tcPr marL="73152" marR="73152" marT="18288" marB="18288" anchor="ctr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73152" marR="73152" marT="18288" marB="18288" anchor="ctr">
                    <a:solidFill>
                      <a:srgbClr val="1F6FB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B33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B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B33"/>
                          </a:solidFill>
                          <a:latin typeface="Calibri"/>
                        </a:rPr>
                        <a:t>194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B33"/>
                          </a:solidFill>
                          <a:latin typeface="Calibri"/>
                        </a:rPr>
                        <a:t>homes at MIN, positive travel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B33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B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B33"/>
                          </a:solidFill>
                          <a:latin typeface="Calibri"/>
                        </a:rPr>
                        <a:t>170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B33"/>
                          </a:solidFill>
                          <a:latin typeface="Calibri"/>
                        </a:rPr>
                        <a:t>homes at MIN, positive travel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B33"/>
                          </a:solidFill>
                          <a:latin typeface="Calibri"/>
                        </a:rPr>
                        <a:t>Z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B33"/>
                          </a:solidFill>
                          <a:latin typeface="Calibri"/>
                        </a:rPr>
                        <a:t>−117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B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B33"/>
                          </a:solidFill>
                          <a:latin typeface="Calibri"/>
                        </a:rPr>
                        <a:t>homes at MAX (top); down = negative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828800" y="4206240"/>
            <a:ext cx="8503920" cy="1463040"/>
          </a:xfrm>
          <a:prstGeom prst="rect">
            <a:avLst/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4206240"/>
            <a:ext cx="109728" cy="146304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4389120"/>
            <a:ext cx="7955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C87A00"/>
                </a:solidFill>
                <a:latin typeface="Calibri"/>
              </a:rPr>
              <a:t>Safe travel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Travel height is Z = −5 mm (not 0): exactly at Z=0 the MAX switch is pressed. Before any X/Y move, Z is raised to −5 mm.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468880"/>
            <a:ext cx="9144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Gripper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hand that grabs the box (SG90)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Parallel gripper with 2 jaws, driven by an SG90 servo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Servo = you command an angle (0–180°), it goes exactly there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50 Hz PWM signal on GPIO19, generated by the ESP32 LEDC peripheral</a:t>
            </a:r>
          </a:p>
          <a:p>
            <a:pPr lvl="1" marL="457200" indent="0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–  Open = 3°, closed = 47° (at 50° it strains and buzzes)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>
                <a:solidFill>
                  <a:srgbClr val="C87A00"/>
                </a:solidFill>
                <a:latin typeface="Calibri"/>
              </a:rPr>
              <a:t>•  Needs solid dedicated 5V: at 4.5V it only “ticked”, looked broken</a:t>
            </a:r>
          </a:p>
          <a:p>
            <a:pPr lvl="1" marL="457200" indent="0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–  Code robust to ESP32 core 2.x vs 3.x (ledcWrite/ledcAttach differ)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468880"/>
            <a:ext cx="9144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Vision — reading the QR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PC-decode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The OV2640 camera captures the image (SVGA 800×600)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ESP32-CAM serves an MJPEG stream over WiFi at http://&lt;ip&gt;/stream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The PC opens the stream (OpenCV) and decodes the QR per frame</a:t>
            </a:r>
          </a:p>
          <a:p>
            <a:pPr lvl="1" marL="457200" indent="0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–  pyzbar first, then OpenCV QRCodeDetector as fallback; errors caught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Fixed focus (~10–20 cm): the camera is always brought to SCAN_POS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On a hit, the PC sends “QR:&lt;code&gt;” to the brain over USB serial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Why decode on the PC (not on the camera)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303520" cy="2194560"/>
          </a:xfrm>
          <a:prstGeom prst="rect">
            <a:avLst/>
          </a:prstGeom>
          <a:solidFill>
            <a:srgbClr val="F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728" cy="2194560"/>
          </a:xfrm>
          <a:prstGeom prst="rect">
            <a:avLst/>
          </a:prstGeom>
          <a:solidFill>
            <a:srgbClr val="B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754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B03030"/>
                </a:solidFill>
                <a:latin typeface="Calibri"/>
              </a:rPr>
              <a:t>On-device problem (abandoned)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On-board decoding (quirc on the ESP32-CAM) gave a read rate often under 10%: fixed-focus OV2640 + a weak chip for image processing.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03520" cy="2194560"/>
          </a:xfrm>
          <a:prstGeom prst="rect">
            <a:avLst/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109728" cy="21945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4754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2E8B57"/>
                </a:solidFill>
                <a:latin typeface="Calibri"/>
              </a:rPr>
              <a:t>PC-decode solution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The camera only streams MJPEG; the PC decodes with OpenCV/pyzbar (far more accurate) and forwards the code to the brain. Plus a live debug window.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esp32cam_stream.ino — MJPEG server on the camera (WiFi)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pc/decode_qr.py — reads the stream, decodes, sends “QR:&lt;code&gt;” + forwards commands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brainPC.ino — routes lines starting with “QR:” into the sort logic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>
                <a:solidFill>
                  <a:srgbClr val="C87A00"/>
                </a:solidFill>
                <a:latin typeface="Calibri"/>
              </a:rPr>
              <a:t>•  The earlier ESP-NOW on-device variant stays as a standalone fallback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468880"/>
            <a:ext cx="9144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Communication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Two links: camera → PC → brain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303520" cy="2103120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728" cy="21031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Link 1 — WiFi (MJPEG video)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ESP32-CAM joins the WiFi, runs a small web server, serves a continuous JPEG stream at /stream. The PC reads it with cv2.VideoCapture(url).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03520" cy="2103120"/>
          </a:xfrm>
          <a:prstGeom prst="rect">
            <a:avLst/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109728" cy="21031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2E8B57"/>
                </a:solidFill>
                <a:latin typeface="Calibri"/>
              </a:rPr>
              <a:t>Link 2 — USB serial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The PC sends “QR:&lt;code&gt;” to the brain; the same cable carries the brain's logs back and the commands you type (HA, R1, P...).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brainPC.ino: a line starting “QR:” → sort logic; otherwise → console command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decode_qr.py auto-reconnects if the stream drops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Anti-spam cooldown so the same code is not re-sent too fast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>
                <a:solidFill>
                  <a:srgbClr val="2E8B57"/>
                </a:solidFill>
                <a:latin typeface="Calibri"/>
              </a:rPr>
              <a:t>•  The camera (streamer) needs only power — no data wire to the moving carriage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468880"/>
            <a:ext cx="9144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Sorting &amp; state machine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3×2 shelves and the fixed code → cell mapping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103120"/>
                <a:gridCol w="21031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Column 1</a:t>
                      </a:r>
                    </a:p>
                  </a:txBody>
                  <a:tcPr marL="73152" marR="73152" marT="18288" marB="18288" anchor="ctr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Column 2</a:t>
                      </a:r>
                    </a:p>
                  </a:txBody>
                  <a:tcPr marL="73152" marR="73152" marT="18288" marB="18288" anchor="ctr">
                    <a:solidFill>
                      <a:srgbClr val="1F6FB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22B33"/>
                          </a:solidFill>
                          <a:latin typeface="Calibri"/>
                        </a:rPr>
                        <a:t>Row 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22B33"/>
                          </a:solidFill>
                          <a:latin typeface="Calibri"/>
                        </a:rPr>
                        <a:t>MS0011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22B33"/>
                          </a:solidFill>
                          <a:latin typeface="Calibri"/>
                        </a:rPr>
                        <a:t>MS0012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22B33"/>
                          </a:solidFill>
                          <a:latin typeface="Calibri"/>
                        </a:rPr>
                        <a:t>Row 2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22B33"/>
                          </a:solidFill>
                          <a:latin typeface="Calibri"/>
                        </a:rPr>
                        <a:t>CJ0011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22B33"/>
                          </a:solidFill>
                          <a:latin typeface="Calibri"/>
                        </a:rPr>
                        <a:t>CJ0012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22B33"/>
                          </a:solidFill>
                          <a:latin typeface="Calibri"/>
                        </a:rPr>
                        <a:t>Row 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22B33"/>
                          </a:solidFill>
                          <a:latin typeface="Calibri"/>
                        </a:rPr>
                        <a:t>EB0011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22B33"/>
                          </a:solidFill>
                          <a:latin typeface="Calibri"/>
                        </a:rPr>
                        <a:t>Boxes (pickup)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CODE_MAP: fixed table code → (row, column)</a:t>
            </a:r>
          </a:p>
          <a:p>
            <a:pPr lvl="1" marL="457200" indent="0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–  Strategy A (fixed mapping), not “first free”</a:t>
            </a:r>
          </a:p>
          <a:p>
            <a:pPr lvl="1" marL="457200" indent="0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–  Small, fixed set ⇒ deterministic, easy to debug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Each cell: (x,y,z) taught manually (teach)</a:t>
            </a:r>
          </a:p>
          <a:p>
            <a:pPr lvl="1" marL="457200" indent="0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–  Positions hardcoded in the sketch (no NVS)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>
                <a:solidFill>
                  <a:srgbClr val="C87A00"/>
                </a:solidFill>
                <a:latin typeface="Calibri"/>
              </a:rPr>
              <a:t>•  Unknown code → rejected (no move)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State machine (the AUTO cycle, R1)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377440"/>
            <a:ext cx="1572768" cy="1371600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2377440"/>
            <a:ext cx="1572768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48132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222B33"/>
                </a:solidFill>
                <a:latin typeface="Calibri"/>
              </a:rPr>
              <a:t>HOMING
Z→X→Y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2377440"/>
            <a:ext cx="1572768" cy="1371600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0" y="2377440"/>
            <a:ext cx="1572768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377440"/>
            <a:ext cx="148132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222B33"/>
                </a:solidFill>
                <a:latin typeface="Calibri"/>
              </a:rPr>
              <a:t>GO TO
SCAN_POS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2377440"/>
            <a:ext cx="1572768" cy="1371600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03320" y="2377440"/>
            <a:ext cx="1572768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377440"/>
            <a:ext cx="148132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222B33"/>
                </a:solidFill>
                <a:latin typeface="Calibri"/>
              </a:rPr>
              <a:t>WAIT
for QR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2377440"/>
            <a:ext cx="1572768" cy="1371600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49240" y="2377440"/>
            <a:ext cx="1572768" cy="54864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2377440"/>
            <a:ext cx="148132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222B33"/>
                </a:solidFill>
                <a:latin typeface="Calibri"/>
              </a:rPr>
              <a:t>VALIDATE
known code?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2377440"/>
            <a:ext cx="1572768" cy="1371600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95160" y="2377440"/>
            <a:ext cx="1572768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2377440"/>
            <a:ext cx="148132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222B33"/>
                </a:solidFill>
                <a:latin typeface="Calibri"/>
              </a:rPr>
              <a:t>PICK
from Boxes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1080" y="2377440"/>
            <a:ext cx="1572768" cy="1371600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41080" y="2377440"/>
            <a:ext cx="1572768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2377440"/>
            <a:ext cx="148132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222B33"/>
                </a:solidFill>
                <a:latin typeface="Calibri"/>
              </a:rPr>
              <a:t>PLACE
at cell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87000" y="2377440"/>
            <a:ext cx="1572768" cy="1371600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87000" y="2377440"/>
            <a:ext cx="1572768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0" y="2377440"/>
            <a:ext cx="148132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222B33"/>
                </a:solidFill>
                <a:latin typeface="Calibri"/>
              </a:rPr>
              <a:t>RETURN
to SCAN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Z always raised before any X/Y move (anti-collision)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Unknown/missing code → rejected, the cycle does not get stuck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5 s cooldown after each sort so repeated detections do not loop the cycle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STOP (S or R0) instantly halts motion and auto mode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468880"/>
            <a:ext cx="9144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Power &amp; pins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12V → the 3 A4988 drivers (VMOT) + 100µF capacitor/driver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Buck 12V→3.3V → ESP32 brain + driver logic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Dedicated 5V → SG90 servo (+ cap, anti voltage-sag)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ESP32-CAM: powered separately over USB 5V (laptop/power bank)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>
                <a:solidFill>
                  <a:srgbClr val="C87A00"/>
                </a:solidFill>
                <a:latin typeface="Calibri"/>
              </a:rPr>
              <a:t>•  COMMON GND mandatory between supply, bucks, brain, drivers, servo</a:t>
            </a:r>
          </a:p>
          <a:p>
            <a:pPr lvl="1" marL="457200" indent="0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–  The camera (WiFi) does NOT need a common GND with the brain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572000"/>
            <a:ext cx="10698480" cy="1188720"/>
          </a:xfrm>
          <a:prstGeom prst="rect">
            <a:avLst/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109728" cy="1188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75488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F6FB2"/>
                </a:solidFill>
                <a:latin typeface="Calibri"/>
              </a:rPr>
              <a:t>Separate domains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12V power (motors) and 3.3V logic are different domains, tied only by the common GND. Capacitors absorb current spikes and prevent brownout/reset.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Pin map (brain ESP32 WROOM-32D)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88720" y="1463040"/>
          <a:ext cx="97840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42976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73152" marR="73152" marT="18288" marB="18288" anchor="ctr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GPIO</a:t>
                      </a:r>
                    </a:p>
                  </a:txBody>
                  <a:tcPr marL="73152" marR="73152" marT="18288" marB="18288" anchor="ctr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73152" marR="73152" marT="18288" marB="18288" anchor="ctr">
                    <a:solidFill>
                      <a:srgbClr val="1F6FB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X STEP / DIR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25 / 26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pulses + direction, motor X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Y STEP / DIR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32 / 33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motor Y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Z STEP / DIR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27 / 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motor Z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ENABLE (all 3)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active-LOW, shared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Endstop MIN X/Y/Z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21 / 22 / 23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INPUT_PULLUP, pressed=LOW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Endstop MAX X/Y/Z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4 / 18 / 17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INPUT_PULLUP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SG90 servo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PWM LEDC 50 Hz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QR input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USB serial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“QR:&lt;code&gt;” from the PC decoder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280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468880"/>
            <a:ext cx="9144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Decisions &amp; lessons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Design decisions (and WHY)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Two MCUs: isolate timing-critical motion from image handling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ESP32 vs Arduino: radio + RAM + dual-core + hardware timing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Decode on the PC: much higher QR read accuracy than on-device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ESP-NOW on-device variant abandoned (read rate was the bottleneck)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FastAccelStepper: no lost steps at speed/microstepping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Fixed mapping (A): deterministic on a small code set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Z homes up: avoids collision with the shelves in front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Hardcoded positions: simple “teach &amp; paste” flow for a prototype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Problems encountered &amp; solutions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  <a:gridCol w="50292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 marL="73152" marR="73152" marT="18288" marB="18288" anchor="ctr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Cause</a:t>
                      </a:r>
                    </a:p>
                  </a:txBody>
                  <a:tcPr marL="73152" marR="73152" marT="18288" marB="18288" anchor="ctr">
                    <a:solidFill>
                      <a:srgbClr val="1F6F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 marL="73152" marR="73152" marT="18288" marB="18288" anchor="ctr">
                    <a:solidFill>
                      <a:srgbClr val="1F6FB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Servo only ticked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4.5V supply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solid dedicated 5V + common GND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Camera kept resetting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weak USB / auto-off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good USB, 470µF cap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Low on-device QR rate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fixed focus / weak chip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moved decoding to the PC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Stream read fails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WiFi hiccup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decode_qr.py auto-reconnects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Cycle looped on one box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repeated detections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5 s cooldown after each sort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“endstop hit” on Z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Z=0 sits on the switch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B33"/>
                          </a:solidFill>
                          <a:latin typeface="Calibri"/>
                        </a:rPr>
                        <a:t>travel at Z=−5 mm</a:t>
                      </a:r>
                    </a:p>
                  </a:txBody>
                  <a:tcPr marL="73152" marR="73152" marT="18288" marB="18288" anchor="ctr">
                    <a:solidFill>
                      <a:srgbClr val="E8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A6670"/>
                </a:solidFill>
                <a:latin typeface="Calibri"/>
              </a:rPr>
              <a:t>Thank you!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>
                <a:solidFill>
                  <a:srgbClr val="1F6FB2"/>
                </a:solidFill>
                <a:latin typeface="Calibri"/>
              </a:rPr>
              <a:t>•  XYZ gantry + steppers/A4988, driven by an ESP32 (state machine)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ESP32-CAM as a wireless camera; the PC is the smart decoder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Deterministic sorting via a fixed code → cell table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>
                <a:solidFill>
                  <a:srgbClr val="222B33"/>
                </a:solidFill>
                <a:latin typeface="Calibri"/>
              </a:rPr>
              <a:t>•  Robust architecture: vision/motion split + PC-side accuracy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1">
                <a:solidFill>
                  <a:srgbClr val="2E8B57"/>
                </a:solidFill>
                <a:latin typeface="Calibri"/>
              </a:rPr>
              <a:t>•  Many decisions validated hands-on at the bench (power, decoding, Z homing)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